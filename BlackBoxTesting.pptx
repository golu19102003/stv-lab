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66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40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7C0B2-18AE-964E-44FC-A15E0B2E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C007C-0DAE-AD37-D39C-52CF64E95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2C79C-95D0-323C-2F53-348DEE8BC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252CD-15EE-5686-7113-5092FD3F7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09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1414916"/>
            <a:ext cx="3671668" cy="347472"/>
          </a:xfrm>
          <a:prstGeom prst="roundRect">
            <a:avLst>
              <a:gd name="adj" fmla="val 13158"/>
            </a:avLst>
          </a:prstGeom>
          <a:solidFill>
            <a:srgbClr val="00ACC1"/>
          </a:solidFill>
          <a:ln/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8CBFEA-8FE9-0AB3-C8E6-54278DC9FA97}"/>
              </a:ext>
            </a:extLst>
          </p:cNvPr>
          <p:cNvSpPr txBox="1"/>
          <p:nvPr/>
        </p:nvSpPr>
        <p:spPr>
          <a:xfrm>
            <a:off x="590843" y="1444654"/>
            <a:ext cx="3298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SOFTWARE TESTING &amp; VALIDATION LAB</a:t>
            </a:r>
            <a:endParaRPr lang="en-US" sz="1400" dirty="0"/>
          </a:p>
          <a:p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855E4-FBB4-D546-8B27-59B95267C132}"/>
              </a:ext>
            </a:extLst>
          </p:cNvPr>
          <p:cNvSpPr txBox="1"/>
          <p:nvPr/>
        </p:nvSpPr>
        <p:spPr>
          <a:xfrm>
            <a:off x="457200" y="1997612"/>
            <a:ext cx="56481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kern="0" spc="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Black Box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kern="0" spc="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Testing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FF557F-A7C2-3732-2904-E1A0AC163759}"/>
              </a:ext>
            </a:extLst>
          </p:cNvPr>
          <p:cNvSpPr txBox="1"/>
          <p:nvPr/>
        </p:nvSpPr>
        <p:spPr>
          <a:xfrm>
            <a:off x="457200" y="2594282"/>
            <a:ext cx="6281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specification-based approach to software quality assurance</a:t>
            </a:r>
            <a:endParaRPr lang="en-US" dirty="0">
              <a:solidFill>
                <a:srgbClr val="0070C0"/>
              </a:solidFill>
            </a:endParaRPr>
          </a:p>
          <a:p>
            <a:endParaRPr lang="en-IN" dirty="0">
              <a:solidFill>
                <a:srgbClr val="0070C0"/>
              </a:solidFill>
            </a:endParaRPr>
          </a:p>
        </p:txBody>
      </p:sp>
      <p:pic>
        <p:nvPicPr>
          <p:cNvPr id="1026" name="Picture 2" descr="Engineering Blog | Technology Blog | Education Blog – Arya College –  Education Blog – Engineerings becoming a means for educators, students, and  education administrators to interact more effectively than ever before.">
            <a:extLst>
              <a:ext uri="{FF2B5EF4-FFF2-40B4-BE49-F238E27FC236}">
                <a16:creationId xmlns:a16="http://schemas.microsoft.com/office/drawing/2014/main" id="{674052EA-BEAF-505F-FF6A-B15FC3E85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182" y="20743"/>
            <a:ext cx="1624818" cy="162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53AE01-74A3-00D8-3B00-6F65085322C6}"/>
              </a:ext>
            </a:extLst>
          </p:cNvPr>
          <p:cNvSpPr txBox="1"/>
          <p:nvPr/>
        </p:nvSpPr>
        <p:spPr>
          <a:xfrm>
            <a:off x="1361049" y="4619898"/>
            <a:ext cx="6421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070C0"/>
                </a:solidFill>
              </a:rPr>
              <a:t>Software Engineering  |  Quality Assurance  |  Testing 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CC95EA-B53F-1F81-D119-71DACE09D5CA}"/>
              </a:ext>
            </a:extLst>
          </p:cNvPr>
          <p:cNvSpPr txBox="1"/>
          <p:nvPr/>
        </p:nvSpPr>
        <p:spPr>
          <a:xfrm>
            <a:off x="457200" y="3406396"/>
            <a:ext cx="35450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Submitted By:</a:t>
            </a:r>
          </a:p>
          <a:p>
            <a:r>
              <a:rPr lang="en-IN" sz="1600" dirty="0"/>
              <a:t>Pranjal Khandelwal</a:t>
            </a:r>
          </a:p>
          <a:p>
            <a:r>
              <a:rPr lang="en-IN" sz="1600" dirty="0"/>
              <a:t>22EARCS125</a:t>
            </a:r>
          </a:p>
        </p:txBody>
      </p:sp>
    </p:spTree>
    <p:extLst>
      <p:ext uri="{BB962C8B-B14F-4D97-AF65-F5344CB8AC3E}">
        <p14:creationId xmlns:p14="http://schemas.microsoft.com/office/powerpoint/2010/main" val="65862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Black Box Testing?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</a:rPr>
              <a:t>The Core Idea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4206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without looking at source code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only on inputs and outputs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functional specifications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interacts via UI, API, or CLI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 all levels of testing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1143000"/>
            <a:ext cx="3749040" cy="320040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920240"/>
            <a:ext cx="822960" cy="41148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920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2029968"/>
            <a:ext cx="320040" cy="18288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554480"/>
            <a:ext cx="1645920" cy="1188720"/>
          </a:xfrm>
          <a:prstGeom prst="rect">
            <a:avLst/>
          </a:prstGeom>
          <a:solidFill>
            <a:srgbClr val="0A1628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5544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BLACK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BOX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1562" y="2793492"/>
            <a:ext cx="155799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46E7A"/>
                </a:solidFill>
              </a:rPr>
              <a:t>(System)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2029968"/>
            <a:ext cx="320040" cy="1828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1920240"/>
            <a:ext cx="868680" cy="4114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9202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3108960"/>
            <a:ext cx="283464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5100"/>
                </a:solidFill>
              </a:rPr>
              <a:t>No source code access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70C0"/>
                </a:solidFill>
              </a:rPr>
              <a:t>Unlike White Box Testing, Black Box Testing is language-agnostic and platform-independent — applicable across web, mobile, embedded, and enterprise systems.</a:t>
            </a:r>
            <a:endParaRPr lang="en-US" sz="13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-893298" y="3049524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32004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788920"/>
            <a:ext cx="14630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DEFB"/>
                </a:solidFill>
              </a:rPr>
              <a:t>Study specs &amp; user stories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2606040"/>
            <a:ext cx="182880" cy="16459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1188720"/>
            <a:ext cx="1554480" cy="32004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234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1168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Case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2788920"/>
            <a:ext cx="14630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DEFB"/>
                </a:solidFill>
              </a:rPr>
              <a:t>Define inputs &amp; expected outputs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606040"/>
            <a:ext cx="182880" cy="16459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9040" y="1188720"/>
            <a:ext cx="1554480" cy="32004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234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4904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2788920"/>
            <a:ext cx="14630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DEFB"/>
                </a:solidFill>
              </a:rPr>
              <a:t>Run tests on the system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2606040"/>
            <a:ext cx="182880" cy="16459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0" y="1188720"/>
            <a:ext cx="1554480" cy="32004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234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Comparison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2788920"/>
            <a:ext cx="14630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DEFB"/>
                </a:solidFill>
              </a:rPr>
              <a:t>Actual vs expected output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2606040"/>
            <a:ext cx="182880" cy="16459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4" name="Shape 22"/>
          <p:cNvSpPr/>
          <p:nvPr/>
        </p:nvSpPr>
        <p:spPr>
          <a:xfrm>
            <a:off x="7223760" y="1188720"/>
            <a:ext cx="1554480" cy="3200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234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70000"/>
                  </a:srgbClr>
                </a:solidFill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2376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Defect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Reporting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9480" y="2788920"/>
            <a:ext cx="14630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DEFB"/>
                </a:solidFill>
              </a:rPr>
              <a:t>Log bugs, retest after fix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70C0"/>
                </a:solidFill>
              </a:rPr>
              <a:t>Regression testing is performed after each fix to ensure no new issues are introduced.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318592A6-6D9D-A770-EE96-B221EE21E645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29C6EF-FD13-D681-3C0C-70FF795B0E14}"/>
              </a:ext>
            </a:extLst>
          </p:cNvPr>
          <p:cNvSpPr txBox="1"/>
          <p:nvPr/>
        </p:nvSpPr>
        <p:spPr>
          <a:xfrm>
            <a:off x="320040" y="225083"/>
            <a:ext cx="69494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The Testing Process</a:t>
            </a:r>
            <a:endParaRPr lang="en-US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Testing Techniques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713232"/>
          </a:xfrm>
          <a:prstGeom prst="rect">
            <a:avLst/>
          </a:prstGeom>
          <a:solidFill>
            <a:srgbClr val="F8FB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7132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52728"/>
            <a:ext cx="402336" cy="402336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52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</a:rPr>
              <a:t>Equivalence Partitioning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14300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Group inputs into classes — test one value per class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216152"/>
            <a:ext cx="24231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216152"/>
            <a:ext cx="2331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47A1"/>
                </a:solidFill>
              </a:rPr>
              <a:t>e.g. Age: &lt;18 / 18–60 / &gt;60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86537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65376"/>
            <a:ext cx="109728" cy="713232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020824"/>
            <a:ext cx="402336" cy="402336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191109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7BD"/>
                </a:solidFill>
              </a:rPr>
              <a:t>Boundary Value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191109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Test at the edges of input ranges where bugs hide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984248"/>
            <a:ext cx="24231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984248"/>
            <a:ext cx="2331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47A1"/>
                </a:solidFill>
              </a:rPr>
              <a:t>e.g. Test 17, 18, 19 and 59, 60, 61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633472"/>
            <a:ext cx="8595360" cy="713232"/>
          </a:xfrm>
          <a:prstGeom prst="rect">
            <a:avLst/>
          </a:prstGeom>
          <a:solidFill>
            <a:srgbClr val="F8FB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633472"/>
            <a:ext cx="109728" cy="71323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788920"/>
            <a:ext cx="402336" cy="402336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26791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38F"/>
                </a:solidFill>
              </a:rPr>
              <a:t>Decision Table Testing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63240" y="267919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Cover all combinations of conditions systematically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2752344"/>
            <a:ext cx="24231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752344"/>
            <a:ext cx="2331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47A1"/>
                </a:solidFill>
              </a:rPr>
              <a:t>e.g. Login: valid/invalid user × password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40156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01568"/>
            <a:ext cx="109728" cy="7132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557016"/>
            <a:ext cx="402336" cy="40233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34472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</a:rPr>
              <a:t>State Transition Testing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3240" y="344728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Test system behaviour across state changes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520440"/>
            <a:ext cx="24231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520440"/>
            <a:ext cx="2331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47A1"/>
                </a:solidFill>
              </a:rPr>
              <a:t>e.g. Idle → PIN Entry → Authenticated → Locked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169664"/>
            <a:ext cx="8595360" cy="713232"/>
          </a:xfrm>
          <a:prstGeom prst="rect">
            <a:avLst/>
          </a:prstGeom>
          <a:solidFill>
            <a:srgbClr val="F8FB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169664"/>
            <a:ext cx="109728" cy="7132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4325112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4325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42153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Error Guessing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63240" y="42153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Use experience to predict where bugs might be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288536"/>
            <a:ext cx="242316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4288536"/>
            <a:ext cx="2331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47A1"/>
                </a:solidFill>
              </a:rPr>
              <a:t>e.g. Null inputs, empty fields, overflow values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✔  Advantages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✘  Disadvantages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91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20"/>
                </a:solidFill>
              </a:rPr>
              <a:t>✔  No programming knowledge needed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114800" cy="47548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02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20"/>
                </a:solidFill>
              </a:rPr>
              <a:t>✔  Unbiased, user-perspective testing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411480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889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20"/>
                </a:solidFill>
              </a:rPr>
              <a:t>✔  Validates functional requirements directly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4114800" cy="47548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37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20"/>
                </a:solidFill>
              </a:rPr>
              <a:t>✔  Applicable at all levels of testing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411480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862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20"/>
                </a:solidFill>
              </a:rPr>
              <a:t>✔  Accessible to non-technical testers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4114800" cy="47548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91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1C1C"/>
                </a:solidFill>
              </a:rPr>
              <a:t>✘  Limited internal code coverage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114800" cy="475488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2402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1C1C"/>
                </a:solidFill>
              </a:rPr>
              <a:t>✘  Harder to design without source code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4114800" cy="47548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7889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1C1C"/>
                </a:solidFill>
              </a:rPr>
              <a:t>✘  Redundant test cases possible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4114800" cy="475488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37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1C1C"/>
                </a:solidFill>
              </a:rPr>
              <a:t>✘  Cannot target specific code paths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4114800" cy="475488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8862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1C1C"/>
                </a:solidFill>
              </a:rPr>
              <a:t>✘  Root cause of bugs harder to trace</a:t>
            </a:r>
            <a:endParaRPr lang="en-US" sz="1200" dirty="0"/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5B0B3B9C-7A49-6468-8FAD-A61BEB35B820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A44B63-C4E8-C5FE-8D5E-3E578F9B4ED7}"/>
              </a:ext>
            </a:extLst>
          </p:cNvPr>
          <p:cNvSpPr txBox="1"/>
          <p:nvPr/>
        </p:nvSpPr>
        <p:spPr>
          <a:xfrm>
            <a:off x="274320" y="239151"/>
            <a:ext cx="5113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Advantages &amp; Disadvantages</a:t>
            </a:r>
            <a:endParaRPr lang="en-US" sz="2800" dirty="0"/>
          </a:p>
          <a:p>
            <a:endParaRPr lang="en-IN" sz="2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422E92-9E4F-3DE1-8C74-B5B708F20832}"/>
              </a:ext>
            </a:extLst>
          </p:cNvPr>
          <p:cNvSpPr txBox="1"/>
          <p:nvPr/>
        </p:nvSpPr>
        <p:spPr>
          <a:xfrm>
            <a:off x="2124222" y="4607169"/>
            <a:ext cx="5233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0070C0"/>
                </a:solidFill>
              </a:rPr>
              <a:t>Topic: Black Box Testing  |  Section: Pros &amp; Cons  |  QA Lab</a:t>
            </a:r>
            <a:endParaRPr lang="en-IN" sz="1400" b="1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Real-World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7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09728" cy="128016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234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</a:rPr>
              <a:t>Web Development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737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Form submissions, login flows, API responses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1480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7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109728" cy="128016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234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064"/>
                </a:solidFill>
              </a:rPr>
              <a:t>Banking Software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737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Transactions, balance checks, security protocols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25151"/>
            <a:ext cx="411480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7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14600"/>
            <a:ext cx="109728" cy="128016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697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48C"/>
                </a:solidFill>
              </a:rPr>
              <a:t>Mobile Apps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200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UI interactions across devices and OS versions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511083"/>
            <a:ext cx="411480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7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00532"/>
            <a:ext cx="109728" cy="128016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2697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</a:rPr>
              <a:t>User Acceptance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</a:rPr>
              <a:t>Testing (UAT)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3200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Clients verify the system meets their requirements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27859" y="3886200"/>
            <a:ext cx="4813964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7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43333" y="3863340"/>
            <a:ext cx="109728" cy="12801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2688336" y="4160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</a:rPr>
              <a:t>Healthcare &amp;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</a:rPr>
              <a:t>Finance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88336" y="46634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</a:rPr>
              <a:t>Compliance testing mirroring auditor behavior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Black Box vs White Box vs Grey Box</a:t>
            </a:r>
          </a:p>
        </p:txBody>
      </p:sp>
      <p:sp>
        <p:nvSpPr>
          <p:cNvPr id="4" name="BBHeader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lIns="9144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Black Box</a:t>
            </a:r>
          </a:p>
        </p:txBody>
      </p:sp>
      <p:sp>
        <p:nvSpPr>
          <p:cNvPr id="5" name="WBHeader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9144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White Box</a:t>
            </a:r>
          </a:p>
        </p:txBody>
      </p:sp>
      <p:sp>
        <p:nvSpPr>
          <p:cNvPr id="6" name="GBHeader"/>
          <p:cNvSpPr/>
          <p:nvPr/>
        </p:nvSpPr>
        <p:spPr>
          <a:xfrm>
            <a:off x="6035040" y="1097280"/>
            <a:ext cx="2743200" cy="457200"/>
          </a:xfrm>
          <a:prstGeom prst="rect">
            <a:avLst/>
          </a:prstGeom>
          <a:solidFill>
            <a:srgbClr val="00838F"/>
          </a:solidFill>
          <a:ln/>
        </p:spPr>
        <p:txBody>
          <a:bodyPr wrap="square" lIns="9144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Grey Box</a:t>
            </a:r>
          </a:p>
        </p:txBody>
      </p:sp>
      <p:sp>
        <p:nvSpPr>
          <p:cNvPr id="7" name="BBContent"/>
          <p:cNvSpPr/>
          <p:nvPr/>
        </p:nvSpPr>
        <p:spPr>
          <a:xfrm>
            <a:off x="365760" y="1554480"/>
            <a:ext cx="2743200" cy="292608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txBody>
          <a:bodyPr wrap="square" lIns="182880" tIns="182880" rIns="182880" bIns="182880" rtlCol="0" anchor="t"/>
          <a:lstStyle/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No code knowledge needed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Spec/requirement based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User perspective testing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Limited code path coverage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Best for UAT and system testing</a:t>
            </a:r>
          </a:p>
        </p:txBody>
      </p:sp>
      <p:sp>
        <p:nvSpPr>
          <p:cNvPr id="8" name="WBContent"/>
          <p:cNvSpPr/>
          <p:nvPr/>
        </p:nvSpPr>
        <p:spPr>
          <a:xfrm>
            <a:off x="3200400" y="1554480"/>
            <a:ext cx="2743200" cy="29260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</a:ln>
        </p:spPr>
        <p:txBody>
          <a:bodyPr wrap="square" lIns="182880" tIns="182880" rIns="182880" bIns="182880" rtlCol="0" anchor="t"/>
          <a:lstStyle/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Full code visibility required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Tests internal logic and paths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High code coverage possible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Done by developers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Best for unit and integration testing</a:t>
            </a:r>
          </a:p>
        </p:txBody>
      </p:sp>
      <p:sp>
        <p:nvSpPr>
          <p:cNvPr id="9" name="GBContent"/>
          <p:cNvSpPr/>
          <p:nvPr/>
        </p:nvSpPr>
        <p:spPr>
          <a:xfrm>
            <a:off x="6035040" y="1554480"/>
            <a:ext cx="2743200" cy="292608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</a:ln>
        </p:spPr>
        <p:txBody>
          <a:bodyPr wrap="square" lIns="182880" tIns="182880" rIns="182880" bIns="182880" rtlCol="0" anchor="t"/>
          <a:lstStyle/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Partial code knowledge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Combines both approaches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More targeted test design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Testers with limited code access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/>
              </a:rPr>
              <a:t>Best for integration and API testing</a:t>
            </a:r>
          </a:p>
        </p:txBody>
      </p:sp>
      <p:sp>
        <p:nvSpPr>
          <p:cNvPr id="10" name="BottomNote"/>
          <p:cNvSpPr/>
          <p:nvPr/>
        </p:nvSpPr>
        <p:spPr>
          <a:xfrm>
            <a:off x="365760" y="461760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txBody>
          <a:bodyPr wrap="square" lIns="9144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70C0"/>
                </a:solidFill>
              </a:rPr>
              <a:t>For complete test coverage, teams often combine all three approaches -- each targets different defect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Test Case Design &amp; Documentation</a:t>
            </a:r>
          </a:p>
        </p:txBody>
      </p:sp>
      <p:sp>
        <p:nvSpPr>
          <p:cNvPr id="4" name="LeftSectionHeader"/>
          <p:cNvSpPr/>
          <p:nvPr/>
        </p:nvSpPr>
        <p:spPr>
          <a:xfrm>
            <a:off x="36576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</a:rPr>
              <a:t>Anatomy of a Test Case</a:t>
            </a:r>
          </a:p>
        </p:txBody>
      </p:sp>
      <p:sp>
        <p:nvSpPr>
          <p:cNvPr id="5" name="LeftContent"/>
          <p:cNvSpPr/>
          <p:nvPr/>
        </p:nvSpPr>
        <p:spPr>
          <a:xfrm>
            <a:off x="365760" y="1645920"/>
            <a:ext cx="4023360" cy="283464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txBody>
          <a:bodyPr wrap="square" lIns="182880" tIns="182880" rIns="182880" bIns="18288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47A1"/>
                </a:solidFill>
              </a:rPr>
              <a:t>Test Case ID</a:t>
            </a:r>
            <a:r>
              <a:rPr lang="en-US" sz="1300" dirty="0">
                <a:solidFill>
                  <a:srgbClr val="424242"/>
                </a:solidFill>
              </a:rPr>
              <a:t> — Unique identifier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47A1"/>
                </a:solidFill>
              </a:rPr>
              <a:t>Test Title</a:t>
            </a:r>
            <a:r>
              <a:rPr lang="en-US" sz="1300" dirty="0">
                <a:solidFill>
                  <a:srgbClr val="424242"/>
                </a:solidFill>
              </a:rPr>
              <a:t> — Brief description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47A1"/>
                </a:solidFill>
              </a:rPr>
              <a:t>Preconditions</a:t>
            </a:r>
            <a:r>
              <a:rPr lang="en-US" sz="1300" dirty="0">
                <a:solidFill>
                  <a:srgbClr val="424242"/>
                </a:solidFill>
              </a:rPr>
              <a:t> — System state before test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47A1"/>
                </a:solidFill>
              </a:rPr>
              <a:t>Test Steps</a:t>
            </a:r>
            <a:r>
              <a:rPr lang="en-US" sz="1300" dirty="0">
                <a:solidFill>
                  <a:srgbClr val="424242"/>
                </a:solidFill>
              </a:rPr>
              <a:t> — Actions to perform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47A1"/>
                </a:solidFill>
              </a:rPr>
              <a:t>Test Data</a:t>
            </a:r>
            <a:r>
              <a:rPr lang="en-US" sz="1300" dirty="0">
                <a:solidFill>
                  <a:srgbClr val="424242"/>
                </a:solidFill>
              </a:rPr>
              <a:t> — Input values used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47A1"/>
                </a:solidFill>
              </a:rPr>
              <a:t>Expected Result</a:t>
            </a:r>
            <a:r>
              <a:rPr lang="en-US" sz="1300" dirty="0">
                <a:solidFill>
                  <a:srgbClr val="424242"/>
                </a:solidFill>
              </a:rPr>
              <a:t> — What should happen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47A1"/>
                </a:solidFill>
              </a:rPr>
              <a:t>Actual Result</a:t>
            </a:r>
            <a:r>
              <a:rPr lang="en-US" sz="1300" dirty="0">
                <a:solidFill>
                  <a:srgbClr val="424242"/>
                </a:solidFill>
              </a:rPr>
              <a:t> — What actually happened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47A1"/>
                </a:solidFill>
              </a:rPr>
              <a:t>Pass / Fail Status</a:t>
            </a:r>
            <a:r>
              <a:rPr lang="en-US" sz="1300" dirty="0">
                <a:solidFill>
                  <a:srgbClr val="424242"/>
                </a:solidFill>
              </a:rPr>
              <a:t> — Outcome of test run</a:t>
            </a:r>
          </a:p>
        </p:txBody>
      </p:sp>
      <p:sp>
        <p:nvSpPr>
          <p:cNvPr id="6" name="RightSectionHeader"/>
          <p:cNvSpPr/>
          <p:nvPr/>
        </p:nvSpPr>
        <p:spPr>
          <a:xfrm>
            <a:off x="4663440" y="1188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</a:rPr>
              <a:t>Best Practices</a:t>
            </a:r>
          </a:p>
        </p:txBody>
      </p:sp>
      <p:sp>
        <p:nvSpPr>
          <p:cNvPr id="7" name="RightContent"/>
          <p:cNvSpPr/>
          <p:nvPr/>
        </p:nvSpPr>
        <p:spPr>
          <a:xfrm>
            <a:off x="4663440" y="1645920"/>
            <a:ext cx="4114800" cy="283464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t"/>
          <a:lstStyle/>
          <a:p>
            <a:pPr marL="342900" indent="-342900">
              <a:spcAft>
                <a:spcPts val="1200"/>
              </a:spcAft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/>
              </a:rPr>
              <a:t>Write one test case per scenario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/>
              </a:rPr>
              <a:t>Use clear, simple language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/>
              </a:rPr>
              <a:t>Cover positive and negative paths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/>
              </a:rPr>
              <a:t>Include edge and boundary cases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/>
              </a:rPr>
              <a:t>Map each case to a requirement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/>
              </a:rPr>
              <a:t>Keep test cases independent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/>
              </a:rPr>
              <a:t>Review and update with spec changes</a:t>
            </a:r>
          </a:p>
          <a:p>
            <a:pPr marL="342900" indent="-342900">
              <a:spcAft>
                <a:spcPts val="1200"/>
              </a:spcAft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/>
              </a:rPr>
              <a:t>Prioritize by risk and criticality</a:t>
            </a:r>
          </a:p>
        </p:txBody>
      </p:sp>
      <p:sp>
        <p:nvSpPr>
          <p:cNvPr id="8" name="BottomNote"/>
          <p:cNvSpPr/>
          <p:nvPr/>
        </p:nvSpPr>
        <p:spPr>
          <a:xfrm>
            <a:off x="365760" y="461760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txBody>
          <a:bodyPr wrap="square" lIns="9144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70C0"/>
                </a:solidFill>
              </a:rPr>
              <a:t>Well-documented test cases improve team communication, enable reuse, and make regression testing faster and more reliable.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Popular Black Box Testing Tools</a:t>
            </a:r>
          </a:p>
        </p:txBody>
      </p:sp>
      <p:sp>
        <p:nvSpPr>
          <p:cNvPr id="4" name="Tool1BG"/>
          <p:cNvSpPr/>
          <p:nvPr/>
        </p:nvSpPr>
        <p:spPr>
          <a:xfrm>
            <a:off x="365760" y="1097280"/>
            <a:ext cx="2606040" cy="73152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</p:spPr>
        <p:txBody>
          <a:bodyPr wrap="square" lIns="182880" tIns="91440" rIns="91440" bIns="9144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</a:rPr>
              <a:t>Selenium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</a:rPr>
              <a:t>Web UI automation testing</a:t>
            </a:r>
          </a:p>
        </p:txBody>
      </p:sp>
      <p:sp>
        <p:nvSpPr>
          <p:cNvPr id="5" name="Tool2BG"/>
          <p:cNvSpPr/>
          <p:nvPr/>
        </p:nvSpPr>
        <p:spPr>
          <a:xfrm>
            <a:off x="3109200" y="1097280"/>
            <a:ext cx="2606040" cy="7315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txBody>
          <a:bodyPr wrap="square" lIns="182880" tIns="91440" rIns="91440" bIns="9144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</a:rPr>
              <a:t>Postman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</a:rPr>
              <a:t>API testing and validation</a:t>
            </a:r>
          </a:p>
        </p:txBody>
      </p:sp>
      <p:sp>
        <p:nvSpPr>
          <p:cNvPr id="6" name="Tool3BG"/>
          <p:cNvSpPr/>
          <p:nvPr/>
        </p:nvSpPr>
        <p:spPr>
          <a:xfrm>
            <a:off x="5852640" y="1097280"/>
            <a:ext cx="2926080" cy="731520"/>
          </a:xfrm>
          <a:prstGeom prst="rect">
            <a:avLst/>
          </a:prstGeom>
          <a:solidFill>
            <a:srgbClr val="E8EAF6"/>
          </a:solidFill>
          <a:ln w="19050">
            <a:solidFill>
              <a:srgbClr val="283593"/>
            </a:solidFill>
          </a:ln>
        </p:spPr>
        <p:txBody>
          <a:bodyPr wrap="square" lIns="182880" tIns="91440" rIns="91440" bIns="9144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593"/>
                </a:solidFill>
              </a:rPr>
              <a:t>Jira / Zephyr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</a:rPr>
              <a:t>Test management and bug tracking</a:t>
            </a:r>
          </a:p>
        </p:txBody>
      </p:sp>
      <p:sp>
        <p:nvSpPr>
          <p:cNvPr id="7" name="Tool4BG"/>
          <p:cNvSpPr/>
          <p:nvPr/>
        </p:nvSpPr>
        <p:spPr>
          <a:xfrm>
            <a:off x="365760" y="1920240"/>
            <a:ext cx="2606040" cy="7315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txBody>
          <a:bodyPr wrap="square" lIns="182880" tIns="91440" rIns="91440" bIns="9144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Appium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</a:rPr>
              <a:t>Mobile app automated testing</a:t>
            </a:r>
          </a:p>
        </p:txBody>
      </p:sp>
      <p:sp>
        <p:nvSpPr>
          <p:cNvPr id="8" name="Tool5BG"/>
          <p:cNvSpPr/>
          <p:nvPr/>
        </p:nvSpPr>
        <p:spPr>
          <a:xfrm>
            <a:off x="3109200" y="1920240"/>
            <a:ext cx="2606040" cy="731520"/>
          </a:xfrm>
          <a:prstGeom prst="rect">
            <a:avLst/>
          </a:prstGeom>
          <a:solidFill>
            <a:srgbClr val="FCE4EC"/>
          </a:solidFill>
          <a:ln w="19050">
            <a:solidFill>
              <a:srgbClr val="880E4F"/>
            </a:solidFill>
          </a:ln>
        </p:spPr>
        <p:txBody>
          <a:bodyPr wrap="square" lIns="182880" tIns="91440" rIns="91440" bIns="9144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0E4F"/>
                </a:solidFill>
              </a:rPr>
              <a:t>TestRail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</a:rPr>
              <a:t>Test case management platform</a:t>
            </a:r>
          </a:p>
        </p:txBody>
      </p:sp>
      <p:sp>
        <p:nvSpPr>
          <p:cNvPr id="9" name="Tool6BG"/>
          <p:cNvSpPr/>
          <p:nvPr/>
        </p:nvSpPr>
        <p:spPr>
          <a:xfrm>
            <a:off x="5852640" y="1920240"/>
            <a:ext cx="2926080" cy="731520"/>
          </a:xfrm>
          <a:prstGeom prst="rect">
            <a:avLst/>
          </a:prstGeom>
          <a:solidFill>
            <a:srgbClr val="E0F7FA"/>
          </a:solidFill>
          <a:ln w="19050">
            <a:solidFill>
              <a:srgbClr val="006064"/>
            </a:solidFill>
          </a:ln>
        </p:spPr>
        <p:txBody>
          <a:bodyPr wrap="square" lIns="182880" tIns="91440" rIns="91440" bIns="9144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064"/>
                </a:solidFill>
              </a:rPr>
              <a:t>SoapUI / ReadyAPI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</a:rPr>
              <a:t>Web services and REST/SOAP testing</a:t>
            </a:r>
          </a:p>
        </p:txBody>
      </p:sp>
      <p:sp>
        <p:nvSpPr>
          <p:cNvPr id="10" name="Tool7BG"/>
          <p:cNvSpPr/>
          <p:nvPr/>
        </p:nvSpPr>
        <p:spPr>
          <a:xfrm>
            <a:off x="365760" y="2743200"/>
            <a:ext cx="2606040" cy="731520"/>
          </a:xfrm>
          <a:prstGeom prst="rect">
            <a:avLst/>
          </a:prstGeom>
          <a:solidFill>
            <a:srgbClr val="EDE7F6"/>
          </a:solidFill>
          <a:ln w="19050">
            <a:solidFill>
              <a:srgbClr val="4527A0"/>
            </a:solidFill>
          </a:ln>
        </p:spPr>
        <p:txBody>
          <a:bodyPr wrap="square" lIns="182880" tIns="91440" rIns="91440" bIns="9144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27A0"/>
                </a:solidFill>
              </a:rPr>
              <a:t>BrowserStack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</a:rPr>
              <a:t>Cross-browser and device testing</a:t>
            </a:r>
          </a:p>
        </p:txBody>
      </p:sp>
      <p:sp>
        <p:nvSpPr>
          <p:cNvPr id="11" name="Tool8BG"/>
          <p:cNvSpPr/>
          <p:nvPr/>
        </p:nvSpPr>
        <p:spPr>
          <a:xfrm>
            <a:off x="3109200" y="2743200"/>
            <a:ext cx="2606040" cy="731520"/>
          </a:xfrm>
          <a:prstGeom prst="rect">
            <a:avLst/>
          </a:prstGeom>
          <a:solidFill>
            <a:srgbClr val="F1F8E9"/>
          </a:solidFill>
          <a:ln w="19050">
            <a:solidFill>
              <a:srgbClr val="33691E"/>
            </a:solidFill>
          </a:ln>
        </p:spPr>
        <p:txBody>
          <a:bodyPr wrap="square" lIns="182880" tIns="91440" rIns="91440" bIns="9144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691E"/>
                </a:solidFill>
              </a:rPr>
              <a:t>Cypress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</a:rPr>
              <a:t>Modern end-to-end web testing</a:t>
            </a:r>
          </a:p>
        </p:txBody>
      </p:sp>
      <p:sp>
        <p:nvSpPr>
          <p:cNvPr id="12" name="Tool9BG"/>
          <p:cNvSpPr/>
          <p:nvPr/>
        </p:nvSpPr>
        <p:spPr>
          <a:xfrm>
            <a:off x="5852640" y="2743200"/>
            <a:ext cx="292608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</a:ln>
        </p:spPr>
        <p:txBody>
          <a:bodyPr wrap="square" lIns="182880" tIns="91440" rIns="91440" bIns="9144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7F17"/>
                </a:solidFill>
              </a:rPr>
              <a:t>LoadRunner / JMeter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24242"/>
                </a:solidFill>
              </a:rPr>
              <a:t>Performance and load testing</a:t>
            </a:r>
          </a:p>
        </p:txBody>
      </p:sp>
      <p:sp>
        <p:nvSpPr>
          <p:cNvPr id="13" name="BottomNote"/>
          <p:cNvSpPr/>
          <p:nvPr/>
        </p:nvSpPr>
        <p:spPr>
          <a:xfrm>
            <a:off x="365760" y="3657600"/>
            <a:ext cx="8412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txBody>
          <a:bodyPr wrap="square" lIns="9144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D47A1"/>
                </a:solidFill>
              </a:rPr>
              <a:t>Tool selection depends on the application type, team expertise, and project requirements -- many teams use several tools in combination.</a:t>
            </a:r>
          </a:p>
        </p:txBody>
      </p:sp>
      <p:sp>
        <p:nvSpPr>
          <p:cNvPr id="14" name="SlideLabel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070C0"/>
                </a:solidFill>
              </a:rPr>
              <a:t>Software Testing &amp; Validation Lab  |  Black Box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01720-32C7-6E9E-51EA-8F2F568D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CD1927-278C-6C84-B968-BBB1DAAE2512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B27A49-2E03-8C73-2A4B-0F92B54707BE}"/>
              </a:ext>
            </a:extLst>
          </p:cNvPr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67B1847-84DE-0DCF-CF39-BF2B66BA713C}"/>
              </a:ext>
            </a:extLst>
          </p:cNvPr>
          <p:cNvSpPr/>
          <p:nvPr/>
        </p:nvSpPr>
        <p:spPr>
          <a:xfrm>
            <a:off x="274320" y="1097280"/>
            <a:ext cx="8595360" cy="713232"/>
          </a:xfrm>
          <a:prstGeom prst="rect">
            <a:avLst/>
          </a:prstGeom>
          <a:solidFill>
            <a:srgbClr val="F8FB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110A68-4270-5B9A-85A0-218D8A80B8E2}"/>
              </a:ext>
            </a:extLst>
          </p:cNvPr>
          <p:cNvSpPr/>
          <p:nvPr/>
        </p:nvSpPr>
        <p:spPr>
          <a:xfrm>
            <a:off x="274320" y="1097280"/>
            <a:ext cx="109728" cy="7132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F37D85B-160B-55EA-F537-D0FDC5403B55}"/>
              </a:ext>
            </a:extLst>
          </p:cNvPr>
          <p:cNvSpPr/>
          <p:nvPr/>
        </p:nvSpPr>
        <p:spPr>
          <a:xfrm>
            <a:off x="502920" y="1252728"/>
            <a:ext cx="402336" cy="402336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82335CB-D646-3E33-D556-F2BC641704BC}"/>
              </a:ext>
            </a:extLst>
          </p:cNvPr>
          <p:cNvSpPr/>
          <p:nvPr/>
        </p:nvSpPr>
        <p:spPr>
          <a:xfrm>
            <a:off x="502920" y="1252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135C3AF-A223-CFD7-B406-A03F4E323FDC}"/>
              </a:ext>
            </a:extLst>
          </p:cNvPr>
          <p:cNvSpPr/>
          <p:nvPr/>
        </p:nvSpPr>
        <p:spPr>
          <a:xfrm>
            <a:off x="1005840" y="1143000"/>
            <a:ext cx="503623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686CC30-2D6B-D575-C94D-B56953695D75}"/>
              </a:ext>
            </a:extLst>
          </p:cNvPr>
          <p:cNvSpPr/>
          <p:nvPr/>
        </p:nvSpPr>
        <p:spPr>
          <a:xfrm>
            <a:off x="3063240" y="114300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CD0D241-5DF0-A275-A293-284D5F1E88C7}"/>
              </a:ext>
            </a:extLst>
          </p:cNvPr>
          <p:cNvSpPr/>
          <p:nvPr/>
        </p:nvSpPr>
        <p:spPr>
          <a:xfrm>
            <a:off x="1118382" y="1216152"/>
            <a:ext cx="7614138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527C802-437F-74E2-35EE-FB8AB99F7679}"/>
              </a:ext>
            </a:extLst>
          </p:cNvPr>
          <p:cNvSpPr/>
          <p:nvPr/>
        </p:nvSpPr>
        <p:spPr>
          <a:xfrm>
            <a:off x="6355080" y="1216152"/>
            <a:ext cx="2331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1CA39EA-41F1-2A4D-61CA-99104C0F4E64}"/>
              </a:ext>
            </a:extLst>
          </p:cNvPr>
          <p:cNvSpPr/>
          <p:nvPr/>
        </p:nvSpPr>
        <p:spPr>
          <a:xfrm>
            <a:off x="274320" y="186537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9E4A37D-E6CE-26B6-78B1-B66ED2AAB9C6}"/>
              </a:ext>
            </a:extLst>
          </p:cNvPr>
          <p:cNvSpPr/>
          <p:nvPr/>
        </p:nvSpPr>
        <p:spPr>
          <a:xfrm>
            <a:off x="274320" y="1865376"/>
            <a:ext cx="109728" cy="713232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B96F7D2-1ED1-5EB6-6CD2-1CE1AE936C1E}"/>
              </a:ext>
            </a:extLst>
          </p:cNvPr>
          <p:cNvSpPr/>
          <p:nvPr/>
        </p:nvSpPr>
        <p:spPr>
          <a:xfrm>
            <a:off x="502920" y="2020824"/>
            <a:ext cx="402336" cy="402336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20818BD-8299-1782-A9B8-913B00EEE299}"/>
              </a:ext>
            </a:extLst>
          </p:cNvPr>
          <p:cNvSpPr/>
          <p:nvPr/>
        </p:nvSpPr>
        <p:spPr>
          <a:xfrm>
            <a:off x="502920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88792CE-E719-9DB7-34D6-056EFF4CD7CC}"/>
              </a:ext>
            </a:extLst>
          </p:cNvPr>
          <p:cNvSpPr/>
          <p:nvPr/>
        </p:nvSpPr>
        <p:spPr>
          <a:xfrm>
            <a:off x="1005840" y="191109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6AD4C1D-7830-0B0F-8F3B-6E01F1C9E3E4}"/>
              </a:ext>
            </a:extLst>
          </p:cNvPr>
          <p:cNvSpPr/>
          <p:nvPr/>
        </p:nvSpPr>
        <p:spPr>
          <a:xfrm>
            <a:off x="3063240" y="191109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605367D-7630-2DF6-9F86-823DDDC2B306}"/>
              </a:ext>
            </a:extLst>
          </p:cNvPr>
          <p:cNvSpPr/>
          <p:nvPr/>
        </p:nvSpPr>
        <p:spPr>
          <a:xfrm>
            <a:off x="1118382" y="1984248"/>
            <a:ext cx="7614138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38EDB50-248A-3E85-A7CF-D7490AC310D8}"/>
              </a:ext>
            </a:extLst>
          </p:cNvPr>
          <p:cNvSpPr/>
          <p:nvPr/>
        </p:nvSpPr>
        <p:spPr>
          <a:xfrm>
            <a:off x="6355080" y="1984248"/>
            <a:ext cx="2331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77297C1-6ED4-3809-3FDC-B0CE3C2A0D10}"/>
              </a:ext>
            </a:extLst>
          </p:cNvPr>
          <p:cNvSpPr/>
          <p:nvPr/>
        </p:nvSpPr>
        <p:spPr>
          <a:xfrm>
            <a:off x="274320" y="2633472"/>
            <a:ext cx="8595360" cy="713232"/>
          </a:xfrm>
          <a:prstGeom prst="rect">
            <a:avLst/>
          </a:prstGeom>
          <a:solidFill>
            <a:srgbClr val="F8FB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B4BB540-15E2-5ACC-9B16-8243A346F095}"/>
              </a:ext>
            </a:extLst>
          </p:cNvPr>
          <p:cNvSpPr/>
          <p:nvPr/>
        </p:nvSpPr>
        <p:spPr>
          <a:xfrm>
            <a:off x="274320" y="2633472"/>
            <a:ext cx="109728" cy="71323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B25F38C-0F14-2A5F-7E1D-B2D521D073D0}"/>
              </a:ext>
            </a:extLst>
          </p:cNvPr>
          <p:cNvSpPr/>
          <p:nvPr/>
        </p:nvSpPr>
        <p:spPr>
          <a:xfrm>
            <a:off x="502920" y="2788920"/>
            <a:ext cx="402336" cy="402336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90B2A0C-F89C-43F8-242E-3F19E5904D31}"/>
              </a:ext>
            </a:extLst>
          </p:cNvPr>
          <p:cNvSpPr/>
          <p:nvPr/>
        </p:nvSpPr>
        <p:spPr>
          <a:xfrm>
            <a:off x="50292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1EBB71F-3310-DB65-6A88-9E068EE9FDAE}"/>
              </a:ext>
            </a:extLst>
          </p:cNvPr>
          <p:cNvSpPr/>
          <p:nvPr/>
        </p:nvSpPr>
        <p:spPr>
          <a:xfrm>
            <a:off x="1005840" y="267919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58935A8-1032-788A-A1B3-E073B3D52C69}"/>
              </a:ext>
            </a:extLst>
          </p:cNvPr>
          <p:cNvSpPr/>
          <p:nvPr/>
        </p:nvSpPr>
        <p:spPr>
          <a:xfrm>
            <a:off x="3063240" y="267919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98EC1C7-ED14-A4ED-57E3-89697EDEAA5F}"/>
              </a:ext>
            </a:extLst>
          </p:cNvPr>
          <p:cNvSpPr/>
          <p:nvPr/>
        </p:nvSpPr>
        <p:spPr>
          <a:xfrm>
            <a:off x="1118382" y="2752344"/>
            <a:ext cx="7614138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D5F4993-D48E-E3DF-7B74-C73BDDDC49B7}"/>
              </a:ext>
            </a:extLst>
          </p:cNvPr>
          <p:cNvSpPr/>
          <p:nvPr/>
        </p:nvSpPr>
        <p:spPr>
          <a:xfrm>
            <a:off x="6355080" y="2752344"/>
            <a:ext cx="2331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6C02B3F-58D7-DDCB-F9F1-00412B926072}"/>
              </a:ext>
            </a:extLst>
          </p:cNvPr>
          <p:cNvSpPr/>
          <p:nvPr/>
        </p:nvSpPr>
        <p:spPr>
          <a:xfrm>
            <a:off x="274320" y="340156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00E54E1-34DB-D251-FA45-678D138F98A0}"/>
              </a:ext>
            </a:extLst>
          </p:cNvPr>
          <p:cNvSpPr/>
          <p:nvPr/>
        </p:nvSpPr>
        <p:spPr>
          <a:xfrm>
            <a:off x="274320" y="3401568"/>
            <a:ext cx="109728" cy="7132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E4D9C7F-4F14-4F9E-68A1-C7CFEFA5BA83}"/>
              </a:ext>
            </a:extLst>
          </p:cNvPr>
          <p:cNvSpPr/>
          <p:nvPr/>
        </p:nvSpPr>
        <p:spPr>
          <a:xfrm>
            <a:off x="502920" y="3557016"/>
            <a:ext cx="402336" cy="40233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3ADDACB-F167-3DB7-EB3A-22B16D2F805E}"/>
              </a:ext>
            </a:extLst>
          </p:cNvPr>
          <p:cNvSpPr/>
          <p:nvPr/>
        </p:nvSpPr>
        <p:spPr>
          <a:xfrm>
            <a:off x="50292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754C84D-81BD-F41A-EE4B-87672520E403}"/>
              </a:ext>
            </a:extLst>
          </p:cNvPr>
          <p:cNvSpPr/>
          <p:nvPr/>
        </p:nvSpPr>
        <p:spPr>
          <a:xfrm>
            <a:off x="1005840" y="34472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D9E9356-1B4A-E08C-C62E-F53328B2836B}"/>
              </a:ext>
            </a:extLst>
          </p:cNvPr>
          <p:cNvSpPr/>
          <p:nvPr/>
        </p:nvSpPr>
        <p:spPr>
          <a:xfrm>
            <a:off x="3063240" y="344728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4059084-CCBA-0A6E-3302-35529076037F}"/>
              </a:ext>
            </a:extLst>
          </p:cNvPr>
          <p:cNvSpPr/>
          <p:nvPr/>
        </p:nvSpPr>
        <p:spPr>
          <a:xfrm>
            <a:off x="1118382" y="3520440"/>
            <a:ext cx="7614138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2732B7A-844A-4FBC-8C09-A94F5EED0BE9}"/>
              </a:ext>
            </a:extLst>
          </p:cNvPr>
          <p:cNvSpPr/>
          <p:nvPr/>
        </p:nvSpPr>
        <p:spPr>
          <a:xfrm>
            <a:off x="6355080" y="3520440"/>
            <a:ext cx="2331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D24C65B-1D1F-F7E4-414E-B0912139C431}"/>
              </a:ext>
            </a:extLst>
          </p:cNvPr>
          <p:cNvSpPr/>
          <p:nvPr/>
        </p:nvSpPr>
        <p:spPr>
          <a:xfrm>
            <a:off x="1005840" y="42153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D32F988-9328-32F5-80DA-6F4820A02931}"/>
              </a:ext>
            </a:extLst>
          </p:cNvPr>
          <p:cNvSpPr/>
          <p:nvPr/>
        </p:nvSpPr>
        <p:spPr>
          <a:xfrm>
            <a:off x="3063240" y="421538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A0AF912E-D1C8-382E-A0CE-170F8A718655}"/>
              </a:ext>
            </a:extLst>
          </p:cNvPr>
          <p:cNvSpPr/>
          <p:nvPr/>
        </p:nvSpPr>
        <p:spPr>
          <a:xfrm>
            <a:off x="6355080" y="4288536"/>
            <a:ext cx="23317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F14500-9D17-C8FC-0D7C-25C8E84EE48C}"/>
              </a:ext>
            </a:extLst>
          </p:cNvPr>
          <p:cNvSpPr txBox="1"/>
          <p:nvPr/>
        </p:nvSpPr>
        <p:spPr>
          <a:xfrm>
            <a:off x="2567355" y="1322363"/>
            <a:ext cx="6073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50000"/>
                  </a:schemeClr>
                </a:solidFill>
              </a:rPr>
              <a:t>Tests from user perspective — no code knowledge needed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8A5971-9002-8958-52F5-3DF004C61C64}"/>
              </a:ext>
            </a:extLst>
          </p:cNvPr>
          <p:cNvSpPr txBox="1"/>
          <p:nvPr/>
        </p:nvSpPr>
        <p:spPr>
          <a:xfrm>
            <a:off x="2286000" y="2087392"/>
            <a:ext cx="6260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Techniques like EP, BVA, and Decision Tables ensure structured coverage</a:t>
            </a:r>
          </a:p>
          <a:p>
            <a:endParaRPr lang="en-IN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A5CE13-8C21-1AED-D2B2-C458A3122826}"/>
              </a:ext>
            </a:extLst>
          </p:cNvPr>
          <p:cNvSpPr txBox="1"/>
          <p:nvPr/>
        </p:nvSpPr>
        <p:spPr>
          <a:xfrm>
            <a:off x="1304778" y="2818912"/>
            <a:ext cx="7121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9999"/>
                </a:solidFill>
              </a:rPr>
              <a:t>Best combined with White Box or Grey Box for complete assurance</a:t>
            </a:r>
          </a:p>
          <a:p>
            <a:pPr algn="ctr"/>
            <a:endParaRPr lang="en-IN" sz="1400" b="1" dirty="0">
              <a:solidFill>
                <a:srgbClr val="009999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790A06-6994-F7B1-E32D-A097ECDE1707}"/>
              </a:ext>
            </a:extLst>
          </p:cNvPr>
          <p:cNvSpPr txBox="1"/>
          <p:nvPr/>
        </p:nvSpPr>
        <p:spPr>
          <a:xfrm>
            <a:off x="1568548" y="3622431"/>
            <a:ext cx="6632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6666"/>
                </a:solidFill>
              </a:rPr>
              <a:t>Essential for UAT, compliance, and cross-platform validation</a:t>
            </a:r>
          </a:p>
          <a:p>
            <a:pPr algn="ctr"/>
            <a:endParaRPr lang="en-IN" sz="1400" b="1" dirty="0">
              <a:solidFill>
                <a:srgbClr val="006666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07624A-3A62-5891-ECA1-A5B572A688BB}"/>
              </a:ext>
            </a:extLst>
          </p:cNvPr>
          <p:cNvSpPr txBox="1"/>
          <p:nvPr/>
        </p:nvSpPr>
        <p:spPr>
          <a:xfrm>
            <a:off x="2285999" y="358726"/>
            <a:ext cx="29682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kern="0" spc="400" dirty="0">
                <a:solidFill>
                  <a:srgbClr val="00ACC1"/>
                </a:solidFill>
              </a:rPr>
              <a:t>(Key Takeaways)</a:t>
            </a:r>
            <a:endParaRPr lang="en-US" sz="2000" dirty="0"/>
          </a:p>
          <a:p>
            <a:endParaRPr lang="en-IN" sz="2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3A809C-3698-79C2-D8BC-F08CD1D47CB8}"/>
              </a:ext>
            </a:extLst>
          </p:cNvPr>
          <p:cNvSpPr txBox="1"/>
          <p:nvPr/>
        </p:nvSpPr>
        <p:spPr>
          <a:xfrm>
            <a:off x="1392702" y="4497169"/>
            <a:ext cx="6527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0070C0"/>
                </a:solidFill>
              </a:rPr>
              <a:t>Black Box Testing — Keeping software aligned with user expectations</a:t>
            </a:r>
          </a:p>
          <a:p>
            <a:pPr algn="ctr"/>
            <a:endParaRPr lang="en-IN" sz="1400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784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797</Words>
  <Application>Microsoft Office PowerPoint</Application>
  <PresentationFormat>On-screen Show (16:9)</PresentationFormat>
  <Paragraphs>169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Box Testing</dc:title>
  <dc:subject>PptxGenJS Presentation</dc:subject>
  <dc:creator>PptxGenJS</dc:creator>
  <cp:lastModifiedBy>pranjal khandelwal</cp:lastModifiedBy>
  <cp:revision>3</cp:revision>
  <dcterms:created xsi:type="dcterms:W3CDTF">2026-04-24T20:15:41Z</dcterms:created>
  <dcterms:modified xsi:type="dcterms:W3CDTF">2026-04-25T12:08:52Z</dcterms:modified>
</cp:coreProperties>
</file>